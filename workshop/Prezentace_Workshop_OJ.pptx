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sldIdLst>
    <p:sldId id="256" r:id="rId2"/>
    <p:sldId id="257" r:id="rId3"/>
    <p:sldId id="258" r:id="rId4"/>
    <p:sldId id="260" r:id="rId5"/>
    <p:sldId id="261" r:id="rId6"/>
    <p:sldId id="265" r:id="rId7"/>
    <p:sldId id="262" r:id="rId8"/>
    <p:sldId id="263" r:id="rId9"/>
    <p:sldId id="266" r:id="rId10"/>
  </p:sldIdLst>
  <p:sldSz cx="12192000" cy="6858000"/>
  <p:notesSz cx="7104063"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řední styl 2 – zvýraznění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98" autoAdjust="0"/>
    <p:restoredTop sz="94660"/>
  </p:normalViewPr>
  <p:slideViewPr>
    <p:cSldViewPr snapToGrid="0">
      <p:cViewPr varScale="1">
        <p:scale>
          <a:sx n="101" d="100"/>
          <a:sy n="101" d="100"/>
        </p:scale>
        <p:origin x="79" y="31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cs-CZ"/>
              <a:t>Kliknutím lze upravit styl.</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cs-CZ"/>
              <a:t>Kliknutím můžete upravit styl předlohy.</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344343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cs-CZ"/>
              <a:t>Kliknutím lze upravit styl.</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32656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áhlaví oddílu">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cs-CZ"/>
              <a:t>Kliknutím lze upravit styl.</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cs-CZ"/>
              <a:t>Po kliknutí můžete upravovat styly textu v předloze.</a:t>
            </a:r>
          </a:p>
        </p:txBody>
      </p:sp>
      <p:sp>
        <p:nvSpPr>
          <p:cNvPr id="4" name="Date Placeholder 3"/>
          <p:cNvSpPr>
            <a:spLocks noGrp="1"/>
          </p:cNvSpPr>
          <p:nvPr>
            <p:ph type="dt" sz="half" idx="10"/>
          </p:nvPr>
        </p:nvSpPr>
        <p:spPr/>
        <p:txBody>
          <a:bodyPr/>
          <a:lstStyle/>
          <a:p>
            <a:fld id="{B61BEF0D-F0BB-DE4B-95CE-6DB70DBA9567}" type="datetimeFigureOut">
              <a:rPr lang="en-US" smtClean="0"/>
              <a:pPr/>
              <a:t>6/21/2026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379624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cs-CZ"/>
              <a:t>Kliknutím lze upravit styl.</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6/21/2026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432099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cs-CZ"/>
              <a:t>Kliknutím lze upravit styl.</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12" name="Content Placeholder 3"/>
          <p:cNvSpPr>
            <a:spLocks noGrp="1"/>
          </p:cNvSpPr>
          <p:nvPr>
            <p:ph sz="quarter" idx="13"/>
          </p:nvPr>
        </p:nvSpPr>
        <p:spPr>
          <a:xfrm>
            <a:off x="913774" y="3051012"/>
            <a:ext cx="5106027" cy="2740187"/>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13" name="Content Placeholder 5"/>
          <p:cNvSpPr>
            <a:spLocks noGrp="1"/>
          </p:cNvSpPr>
          <p:nvPr>
            <p:ph sz="quarter" idx="14"/>
          </p:nvPr>
        </p:nvSpPr>
        <p:spPr>
          <a:xfrm>
            <a:off x="6172200" y="3051012"/>
            <a:ext cx="5105401" cy="2740187"/>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6/21/2026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956861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Jenom nadpis">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cs-CZ"/>
              <a:t>Kliknutím lze upravit styl.</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6/21/2026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30264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ý">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smtClean="0"/>
              <a:pPr/>
              <a:t>6/21/2026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65134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cs-CZ"/>
              <a:t>Kliknutím lze upravit styl.</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Po kliknutí můžete upravovat styly textu v předloze.</a:t>
            </a:r>
          </a:p>
        </p:txBody>
      </p:sp>
      <p:sp>
        <p:nvSpPr>
          <p:cNvPr id="5" name="Date Placeholder 4"/>
          <p:cNvSpPr>
            <a:spLocks noGrp="1"/>
          </p:cNvSpPr>
          <p:nvPr>
            <p:ph type="dt" sz="half" idx="10"/>
          </p:nvPr>
        </p:nvSpPr>
        <p:spPr/>
        <p:txBody>
          <a:bodyPr/>
          <a:lstStyle/>
          <a:p>
            <a:fld id="{B61BEF0D-F0BB-DE4B-95CE-6DB70DBA9567}" type="datetimeFigureOut">
              <a:rPr lang="en-US" smtClean="0"/>
              <a:pPr/>
              <a:t>6/21/2026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286963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cs-CZ"/>
              <a:t>Kliknutím lze upravit styl.</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cs-CZ"/>
              <a:t>Kliknutím na ikonu přidáte obrázek.</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Po kliknutí můžete upravovat styly textu v předloze.</a:t>
            </a:r>
          </a:p>
        </p:txBody>
      </p:sp>
      <p:sp>
        <p:nvSpPr>
          <p:cNvPr id="5" name="Date Placeholder 4"/>
          <p:cNvSpPr>
            <a:spLocks noGrp="1"/>
          </p:cNvSpPr>
          <p:nvPr>
            <p:ph type="dt" sz="half" idx="10"/>
          </p:nvPr>
        </p:nvSpPr>
        <p:spPr/>
        <p:txBody>
          <a:bodyPr/>
          <a:lstStyle/>
          <a:p>
            <a:fld id="{B61BEF0D-F0BB-DE4B-95CE-6DB70DBA9567}" type="datetimeFigureOut">
              <a:rPr lang="en-US" smtClean="0"/>
              <a:pPr/>
              <a:t>6/21/2026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06313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atický obrázek s popiskem">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cs-CZ"/>
              <a:t>Kliknutím lze upravit styl.</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cs-CZ"/>
              <a:t>Kliknutím na ikonu přidáte obrázek.</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Po kliknutí můžete upravovat styly textu v předloze.</a:t>
            </a:r>
          </a:p>
        </p:txBody>
      </p:sp>
      <p:sp>
        <p:nvSpPr>
          <p:cNvPr id="5" name="Date Placeholder 4"/>
          <p:cNvSpPr>
            <a:spLocks noGrp="1"/>
          </p:cNvSpPr>
          <p:nvPr>
            <p:ph type="dt" sz="half" idx="10"/>
          </p:nvPr>
        </p:nvSpPr>
        <p:spPr/>
        <p:txBody>
          <a:bodyPr/>
          <a:lstStyle/>
          <a:p>
            <a:fld id="{B61BEF0D-F0BB-DE4B-95CE-6DB70DBA9567}" type="datetimeFigureOut">
              <a:rPr lang="en-US" smtClean="0"/>
              <a:pPr/>
              <a:t>6/21/2026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30844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Název a popisek">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cs-CZ"/>
              <a:t>Kliknutím lze upravit styl.</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Po kliknutí můžete upravovat styly textu v předloze.</a:t>
            </a:r>
          </a:p>
        </p:txBody>
      </p:sp>
      <p:sp>
        <p:nvSpPr>
          <p:cNvPr id="5" name="Date Placeholder 4"/>
          <p:cNvSpPr>
            <a:spLocks noGrp="1"/>
          </p:cNvSpPr>
          <p:nvPr>
            <p:ph type="dt" sz="half" idx="10"/>
          </p:nvPr>
        </p:nvSpPr>
        <p:spPr/>
        <p:txBody>
          <a:bodyPr/>
          <a:lstStyle/>
          <a:p>
            <a:fld id="{B61BEF0D-F0BB-DE4B-95CE-6DB70DBA9567}" type="datetimeFigureOut">
              <a:rPr lang="en-US" smtClean="0"/>
              <a:pPr/>
              <a:t>6/21/2026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439307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ce s popiskem">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cs-CZ"/>
              <a:t>Kliknutím lze upravit styl.</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Po kliknutí můžete upravovat styly textu v předloze.</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Po kliknutí můžete upravovat styly textu v předloze.</a:t>
            </a:r>
          </a:p>
        </p:txBody>
      </p:sp>
      <p:sp>
        <p:nvSpPr>
          <p:cNvPr id="5" name="Date Placeholder 4"/>
          <p:cNvSpPr>
            <a:spLocks noGrp="1"/>
          </p:cNvSpPr>
          <p:nvPr>
            <p:ph type="dt" sz="half" idx="10"/>
          </p:nvPr>
        </p:nvSpPr>
        <p:spPr/>
        <p:txBody>
          <a:bodyPr/>
          <a:lstStyle/>
          <a:p>
            <a:fld id="{B61BEF0D-F0BB-DE4B-95CE-6DB70DBA9567}" type="datetimeFigureOut">
              <a:rPr lang="en-US" smtClean="0"/>
              <a:pPr/>
              <a:t>6/21/2026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0681341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Jmenovka">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cs-CZ"/>
              <a:t>Kliknutím lze upravit styl.</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cs-CZ"/>
              <a:t>Po kliknutí můžete upravovat styly textu v předloze.</a:t>
            </a:r>
          </a:p>
        </p:txBody>
      </p:sp>
      <p:sp>
        <p:nvSpPr>
          <p:cNvPr id="5" name="Date Placeholder 4"/>
          <p:cNvSpPr>
            <a:spLocks noGrp="1"/>
          </p:cNvSpPr>
          <p:nvPr>
            <p:ph type="dt" sz="half" idx="10"/>
          </p:nvPr>
        </p:nvSpPr>
        <p:spPr/>
        <p:txBody>
          <a:bodyPr/>
          <a:lstStyle/>
          <a:p>
            <a:fld id="{B61BEF0D-F0BB-DE4B-95CE-6DB70DBA9567}" type="datetimeFigureOut">
              <a:rPr lang="en-US" smtClean="0"/>
              <a:pPr/>
              <a:t>6/21/2026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671060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sloupce">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cs-CZ"/>
              <a:t>Kliknutím lze upravit styl.</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Po kliknutí můžete upravovat styly textu v předloze.</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Po kliknutí můžete upravovat styly textu v předloze.</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Po kliknutí můžete upravovat styly textu v předloze.</a:t>
            </a:r>
          </a:p>
        </p:txBody>
      </p:sp>
      <p:sp>
        <p:nvSpPr>
          <p:cNvPr id="3" name="Date Placeholder 2"/>
          <p:cNvSpPr>
            <a:spLocks noGrp="1"/>
          </p:cNvSpPr>
          <p:nvPr>
            <p:ph type="dt" sz="half" idx="10"/>
          </p:nvPr>
        </p:nvSpPr>
        <p:spPr/>
        <p:txBody>
          <a:bodyPr/>
          <a:lstStyle/>
          <a:p>
            <a:fld id="{B61BEF0D-F0BB-DE4B-95CE-6DB70DBA9567}" type="datetimeFigureOut">
              <a:rPr lang="en-US" smtClean="0"/>
              <a:pPr/>
              <a:t>6/21/2026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721557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sloupce s obrázky">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cs-CZ"/>
              <a:t>Kliknutím lze upravit styl.</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cs-CZ"/>
              <a:t>Kliknutím na ikonu přidáte obrázek.</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Po kliknutí můžete upravovat styly textu v předloze.</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cs-CZ"/>
              <a:t>Kliknutím na ikonu přidáte obrázek.</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Po kliknutí můžete upravovat styly textu v předloze.</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cs-CZ"/>
              <a:t>Po kliknutí můžete upravovat styly textu v předloze.</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cs-CZ"/>
              <a:t>Kliknutím na ikonu přidáte obrázek.</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cs-CZ"/>
              <a:t>Po kliknutí můžete upravovat styly textu v předloze.</a:t>
            </a:r>
          </a:p>
        </p:txBody>
      </p:sp>
      <p:sp>
        <p:nvSpPr>
          <p:cNvPr id="3" name="Date Placeholder 2"/>
          <p:cNvSpPr>
            <a:spLocks noGrp="1"/>
          </p:cNvSpPr>
          <p:nvPr>
            <p:ph type="dt" sz="half" idx="10"/>
          </p:nvPr>
        </p:nvSpPr>
        <p:spPr/>
        <p:txBody>
          <a:bodyPr/>
          <a:lstStyle/>
          <a:p>
            <a:fld id="{B61BEF0D-F0BB-DE4B-95CE-6DB70DBA9567}" type="datetimeFigureOut">
              <a:rPr lang="en-US" smtClean="0"/>
              <a:pPr/>
              <a:t>6/21/2026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303226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cs-CZ"/>
              <a:t>Kliknutím lze upravit styl.</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396100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cs-CZ"/>
              <a:t>Kliknutím lze upravit styl.</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036337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cs-CZ"/>
              <a:t>Kliknutím lze upravit styl.</a:t>
            </a:r>
            <a:endParaRPr lang="en-US" dirty="0"/>
          </a:p>
        </p:txBody>
      </p:sp>
      <p:sp>
        <p:nvSpPr>
          <p:cNvPr id="3" name="Content Placeholder 2"/>
          <p:cNvSpPr>
            <a:spLocks noGrp="1"/>
          </p:cNvSpPr>
          <p:nvPr>
            <p:ph idx="1"/>
          </p:nvPr>
        </p:nvSpPr>
        <p:spPr/>
        <p:txBody>
          <a:bodyPr anchor="ct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6/21/2026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05564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0">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cs-CZ"/>
              <a:t>Kliknutím lze upravit styl.</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cs-CZ"/>
              <a:t>Po kliknutí můžete upravovat styly textu v předloze.</a:t>
            </a:r>
          </a:p>
          <a:p>
            <a:pPr lvl="1"/>
            <a:r>
              <a:rPr lang="cs-CZ"/>
              <a:t>Druhá úroveň</a:t>
            </a:r>
          </a:p>
          <a:p>
            <a:pPr lvl="2"/>
            <a:r>
              <a:rPr lang="cs-CZ"/>
              <a:t>Třetí úroveň</a:t>
            </a:r>
          </a:p>
          <a:p>
            <a:pPr lvl="3"/>
            <a:r>
              <a:rPr lang="cs-CZ"/>
              <a:t>Čtvrtá úroveň</a:t>
            </a:r>
          </a:p>
          <a:p>
            <a:pPr lvl="4"/>
            <a:r>
              <a:rPr lang="cs-CZ"/>
              <a:t>Pátá úroveň</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B61BEF0D-F0BB-DE4B-95CE-6DB70DBA9567}" type="datetimeFigureOut">
              <a:rPr lang="en-US" smtClean="0"/>
              <a:pPr/>
              <a:t>6/21/2026</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03747505"/>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8.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8" Type="http://schemas.openxmlformats.org/officeDocument/2006/relationships/hyperlink" Target="https://arxiv.org/abs/2010.11929?utm_source=chatgpt.com" TargetMode="External"/><Relationship Id="rId3" Type="http://schemas.openxmlformats.org/officeDocument/2006/relationships/hyperlink" Target="https://pytorch.org/vision/stable/generated/torchvision.datasets.CIFAR10.html?utm_source=chatgpt.com" TargetMode="External"/><Relationship Id="rId7" Type="http://schemas.openxmlformats.org/officeDocument/2006/relationships/hyperlink" Target="https://arxiv.org/abs/1603.08511?utm_source=chatgpt.com" TargetMode="External"/><Relationship Id="rId2" Type="http://schemas.openxmlformats.org/officeDocument/2006/relationships/hyperlink" Target="https://www.cs.toronto.edu/~kriz/cifar.html?utm_source=chatgpt.com" TargetMode="External"/><Relationship Id="rId1" Type="http://schemas.openxmlformats.org/officeDocument/2006/relationships/slideLayout" Target="../slideLayouts/slideLayout18.xml"/><Relationship Id="rId6" Type="http://schemas.openxmlformats.org/officeDocument/2006/relationships/hyperlink" Target="https://arxiv.org/abs/1505.04597?utm_source=chatgpt.com" TargetMode="External"/><Relationship Id="rId5" Type="http://schemas.openxmlformats.org/officeDocument/2006/relationships/hyperlink" Target="https://pytorch.org/docs/stable/index.html?utm_source=chatgpt.com" TargetMode="External"/><Relationship Id="rId4" Type="http://schemas.openxmlformats.org/officeDocument/2006/relationships/hyperlink" Target="https://www.deeplearningbook.org/?utm_source=chatgpt.com" TargetMode="External"/><Relationship Id="rId9" Type="http://schemas.openxmlformats.org/officeDocument/2006/relationships/hyperlink" Target="https://arxiv.org/abs/2103.00020?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500EC9E0-317A-83F4-99AE-BC831F5EC70E}"/>
              </a:ext>
            </a:extLst>
          </p:cNvPr>
          <p:cNvSpPr>
            <a:spLocks noGrp="1"/>
          </p:cNvSpPr>
          <p:nvPr>
            <p:ph type="ctrTitle"/>
          </p:nvPr>
        </p:nvSpPr>
        <p:spPr/>
        <p:txBody>
          <a:bodyPr/>
          <a:lstStyle/>
          <a:p>
            <a:r>
              <a:rPr lang="cs-CZ" dirty="0"/>
              <a:t>Workshop – Úvod do strojového učení </a:t>
            </a:r>
          </a:p>
        </p:txBody>
      </p:sp>
      <p:sp>
        <p:nvSpPr>
          <p:cNvPr id="3" name="Podnadpis 2">
            <a:extLst>
              <a:ext uri="{FF2B5EF4-FFF2-40B4-BE49-F238E27FC236}">
                <a16:creationId xmlns:a16="http://schemas.microsoft.com/office/drawing/2014/main" id="{8435FB83-CBE0-B23D-6582-AEA68D1FD6D1}"/>
              </a:ext>
            </a:extLst>
          </p:cNvPr>
          <p:cNvSpPr>
            <a:spLocks noGrp="1"/>
          </p:cNvSpPr>
          <p:nvPr>
            <p:ph type="subTitle" idx="1"/>
          </p:nvPr>
        </p:nvSpPr>
        <p:spPr/>
        <p:txBody>
          <a:bodyPr/>
          <a:lstStyle/>
          <a:p>
            <a:r>
              <a:rPr lang="cs-CZ" dirty="0"/>
              <a:t>Ondřej Janeček, 21.6.2026</a:t>
            </a:r>
          </a:p>
        </p:txBody>
      </p:sp>
    </p:spTree>
    <p:extLst>
      <p:ext uri="{BB962C8B-B14F-4D97-AF65-F5344CB8AC3E}">
        <p14:creationId xmlns:p14="http://schemas.microsoft.com/office/powerpoint/2010/main" val="17098556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a:extLst>
              <a:ext uri="{FF2B5EF4-FFF2-40B4-BE49-F238E27FC236}">
                <a16:creationId xmlns:a16="http://schemas.microsoft.com/office/drawing/2014/main" id="{0FC6F4C1-33FD-EE10-47CB-B32D3318F9C8}"/>
              </a:ext>
            </a:extLst>
          </p:cNvPr>
          <p:cNvSpPr>
            <a:spLocks noGrp="1"/>
          </p:cNvSpPr>
          <p:nvPr>
            <p:ph type="title"/>
          </p:nvPr>
        </p:nvSpPr>
        <p:spPr>
          <a:xfrm>
            <a:off x="516481" y="169633"/>
            <a:ext cx="8534400" cy="1507067"/>
          </a:xfrm>
        </p:spPr>
        <p:txBody>
          <a:bodyPr>
            <a:normAutofit/>
          </a:bodyPr>
          <a:lstStyle/>
          <a:p>
            <a:r>
              <a:rPr lang="cs-CZ" dirty="0"/>
              <a:t>Obarvování černobílých fotografií pomocí neuronových sítí</a:t>
            </a:r>
          </a:p>
        </p:txBody>
      </p:sp>
      <p:sp>
        <p:nvSpPr>
          <p:cNvPr id="3" name="Zástupný obsah 2">
            <a:extLst>
              <a:ext uri="{FF2B5EF4-FFF2-40B4-BE49-F238E27FC236}">
                <a16:creationId xmlns:a16="http://schemas.microsoft.com/office/drawing/2014/main" id="{EE0A46AE-C461-AA6D-28CA-A7C7516B36B8}"/>
              </a:ext>
            </a:extLst>
          </p:cNvPr>
          <p:cNvSpPr>
            <a:spLocks noGrp="1"/>
          </p:cNvSpPr>
          <p:nvPr>
            <p:ph idx="1"/>
          </p:nvPr>
        </p:nvSpPr>
        <p:spPr>
          <a:xfrm>
            <a:off x="48695" y="1407711"/>
            <a:ext cx="10734731" cy="2980328"/>
          </a:xfrm>
        </p:spPr>
        <p:txBody>
          <a:bodyPr>
            <a:normAutofit fontScale="92500" lnSpcReduction="20000"/>
          </a:bodyPr>
          <a:lstStyle/>
          <a:p>
            <a:pPr>
              <a:spcBef>
                <a:spcPts val="0"/>
              </a:spcBef>
            </a:pPr>
            <a:r>
              <a:rPr lang="cs-CZ" b="1" dirty="0"/>
              <a:t>Motivace</a:t>
            </a:r>
          </a:p>
          <a:p>
            <a:pPr lvl="1">
              <a:spcBef>
                <a:spcPts val="0"/>
              </a:spcBef>
            </a:pPr>
            <a:r>
              <a:rPr lang="cs-CZ" dirty="0"/>
              <a:t>Historické fotografie často existují pouze v černobílé podobě. </a:t>
            </a:r>
          </a:p>
          <a:p>
            <a:pPr lvl="1">
              <a:spcBef>
                <a:spcPts val="0"/>
              </a:spcBef>
            </a:pPr>
            <a:r>
              <a:rPr lang="cs-CZ" dirty="0"/>
              <a:t>Ruční obarvování je časově náročné. </a:t>
            </a:r>
          </a:p>
          <a:p>
            <a:pPr lvl="1">
              <a:spcBef>
                <a:spcPts val="0"/>
              </a:spcBef>
            </a:pPr>
            <a:r>
              <a:rPr lang="cs-CZ" dirty="0"/>
              <a:t>Cílem je automaticky odhadnout barvy z jasové informace. </a:t>
            </a:r>
          </a:p>
          <a:p>
            <a:pPr>
              <a:spcBef>
                <a:spcPts val="0"/>
              </a:spcBef>
            </a:pPr>
            <a:r>
              <a:rPr lang="cs-CZ" b="1" dirty="0"/>
              <a:t>Zadání</a:t>
            </a:r>
          </a:p>
          <a:p>
            <a:pPr lvl="1">
              <a:spcBef>
                <a:spcPts val="0"/>
              </a:spcBef>
            </a:pPr>
            <a:r>
              <a:rPr lang="cs-CZ" dirty="0"/>
              <a:t>Vstup: jasový kanál </a:t>
            </a:r>
            <a:r>
              <a:rPr lang="cs-CZ" b="1" dirty="0"/>
              <a:t>L</a:t>
            </a:r>
            <a:r>
              <a:rPr lang="cs-CZ" dirty="0"/>
              <a:t> v barevném prostoru LAB. </a:t>
            </a:r>
          </a:p>
          <a:p>
            <a:pPr lvl="1">
              <a:spcBef>
                <a:spcPts val="0"/>
              </a:spcBef>
            </a:pPr>
            <a:r>
              <a:rPr lang="cs-CZ" dirty="0"/>
              <a:t>Výstup: barevné kanály </a:t>
            </a:r>
            <a:r>
              <a:rPr lang="cs-CZ" b="1" dirty="0"/>
              <a:t>A</a:t>
            </a:r>
            <a:r>
              <a:rPr lang="cs-CZ" dirty="0"/>
              <a:t> </a:t>
            </a:r>
            <a:r>
              <a:rPr lang="cs-CZ" dirty="0" err="1"/>
              <a:t>a</a:t>
            </a:r>
            <a:r>
              <a:rPr lang="cs-CZ" dirty="0"/>
              <a:t> </a:t>
            </a:r>
            <a:r>
              <a:rPr lang="cs-CZ" b="1" dirty="0"/>
              <a:t>B</a:t>
            </a:r>
            <a:r>
              <a:rPr lang="cs-CZ" dirty="0"/>
              <a:t>. </a:t>
            </a:r>
          </a:p>
          <a:p>
            <a:pPr lvl="1">
              <a:spcBef>
                <a:spcPts val="0"/>
              </a:spcBef>
            </a:pPr>
            <a:r>
              <a:rPr lang="cs-CZ" dirty="0"/>
              <a:t>Výsledkem je rekonstrukce barevného obrázku.</a:t>
            </a:r>
          </a:p>
          <a:p>
            <a:pPr lvl="1">
              <a:spcBef>
                <a:spcPts val="0"/>
              </a:spcBef>
            </a:pPr>
            <a:r>
              <a:rPr lang="cs-CZ" dirty="0"/>
              <a:t>Proč LAB: U RGB by model musel predikovat všechny tři kanály najednou. V LAB prostoru je ale jasová informace oddělena od barevné informace.</a:t>
            </a:r>
          </a:p>
          <a:p>
            <a:endParaRPr lang="cs-CZ" dirty="0"/>
          </a:p>
        </p:txBody>
      </p:sp>
      <p:pic>
        <p:nvPicPr>
          <p:cNvPr id="5" name="Obrázek 4">
            <a:extLst>
              <a:ext uri="{FF2B5EF4-FFF2-40B4-BE49-F238E27FC236}">
                <a16:creationId xmlns:a16="http://schemas.microsoft.com/office/drawing/2014/main" id="{44350A78-4DB8-FD30-17CD-298D71BA73E3}"/>
              </a:ext>
            </a:extLst>
          </p:cNvPr>
          <p:cNvPicPr>
            <a:picLocks noChangeAspect="1"/>
          </p:cNvPicPr>
          <p:nvPr/>
        </p:nvPicPr>
        <p:blipFill>
          <a:blip r:embed="rId2"/>
          <a:stretch>
            <a:fillRect/>
          </a:stretch>
        </p:blipFill>
        <p:spPr>
          <a:xfrm>
            <a:off x="516481" y="4612859"/>
            <a:ext cx="7754137" cy="1917795"/>
          </a:xfrm>
          <a:prstGeom prst="rect">
            <a:avLst/>
          </a:prstGeom>
        </p:spPr>
      </p:pic>
      <p:sp>
        <p:nvSpPr>
          <p:cNvPr id="6" name="Zástupný obsah 2">
            <a:extLst>
              <a:ext uri="{FF2B5EF4-FFF2-40B4-BE49-F238E27FC236}">
                <a16:creationId xmlns:a16="http://schemas.microsoft.com/office/drawing/2014/main" id="{00C72FBC-C9CC-EFB7-F8EA-3E755005FCBF}"/>
              </a:ext>
            </a:extLst>
          </p:cNvPr>
          <p:cNvSpPr txBox="1">
            <a:spLocks/>
          </p:cNvSpPr>
          <p:nvPr/>
        </p:nvSpPr>
        <p:spPr>
          <a:xfrm>
            <a:off x="8402741" y="4612858"/>
            <a:ext cx="3636860" cy="1917795"/>
          </a:xfrm>
          <a:prstGeom prst="rect">
            <a:avLst/>
          </a:prstGeom>
        </p:spPr>
        <p:txBody>
          <a:bodyPr vert="horz" lIns="91440" tIns="45720" rIns="91440" bIns="45720" rtlCol="0" anchor="ctr">
            <a:normAutofit fontScale="85000" lnSpcReduction="10000"/>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a:spcBef>
                <a:spcPts val="0"/>
              </a:spcBef>
            </a:pPr>
            <a:r>
              <a:rPr lang="cs-CZ" b="1" dirty="0" err="1"/>
              <a:t>Dataset</a:t>
            </a:r>
            <a:r>
              <a:rPr lang="cs-CZ" b="1" dirty="0"/>
              <a:t>: </a:t>
            </a:r>
          </a:p>
          <a:p>
            <a:pPr>
              <a:spcBef>
                <a:spcPts val="0"/>
              </a:spcBef>
            </a:pPr>
            <a:r>
              <a:rPr lang="cs-CZ" dirty="0"/>
              <a:t>CIFAR-10 Rozlišení: 32 × 32 </a:t>
            </a:r>
            <a:r>
              <a:rPr lang="cs-CZ" dirty="0" err="1"/>
              <a:t>px</a:t>
            </a:r>
            <a:r>
              <a:rPr lang="cs-CZ" dirty="0"/>
              <a:t> </a:t>
            </a:r>
          </a:p>
          <a:p>
            <a:pPr>
              <a:spcBef>
                <a:spcPts val="0"/>
              </a:spcBef>
            </a:pPr>
            <a:r>
              <a:rPr lang="cs-CZ" dirty="0"/>
              <a:t>Barevný prostor: LAB </a:t>
            </a:r>
          </a:p>
          <a:p>
            <a:pPr>
              <a:spcBef>
                <a:spcPts val="0"/>
              </a:spcBef>
            </a:pPr>
            <a:r>
              <a:rPr lang="cs-CZ" dirty="0"/>
              <a:t>Framework: </a:t>
            </a:r>
            <a:r>
              <a:rPr lang="cs-CZ" dirty="0" err="1"/>
              <a:t>PyTorch</a:t>
            </a:r>
            <a:r>
              <a:rPr lang="cs-CZ" dirty="0"/>
              <a:t> </a:t>
            </a:r>
          </a:p>
          <a:p>
            <a:pPr>
              <a:spcBef>
                <a:spcPts val="0"/>
              </a:spcBef>
            </a:pPr>
            <a:r>
              <a:rPr lang="cs-CZ" dirty="0"/>
              <a:t>HW: Google </a:t>
            </a:r>
            <a:r>
              <a:rPr lang="cs-CZ" dirty="0" err="1"/>
              <a:t>Colab</a:t>
            </a:r>
            <a:r>
              <a:rPr lang="cs-CZ" dirty="0"/>
              <a:t> (GPU) Metriky: MSE, MAE</a:t>
            </a:r>
            <a:endParaRPr lang="cs-CZ" b="1" dirty="0"/>
          </a:p>
          <a:p>
            <a:endParaRPr lang="cs-CZ" dirty="0"/>
          </a:p>
        </p:txBody>
      </p:sp>
    </p:spTree>
    <p:extLst>
      <p:ext uri="{BB962C8B-B14F-4D97-AF65-F5344CB8AC3E}">
        <p14:creationId xmlns:p14="http://schemas.microsoft.com/office/powerpoint/2010/main" val="3187065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029AA-F6C3-965B-9B92-5C1222A9C5C7}"/>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82351A87-9B0A-DC4E-6898-9678E15D7937}"/>
              </a:ext>
            </a:extLst>
          </p:cNvPr>
          <p:cNvSpPr>
            <a:spLocks noGrp="1"/>
          </p:cNvSpPr>
          <p:nvPr>
            <p:ph type="title"/>
          </p:nvPr>
        </p:nvSpPr>
        <p:spPr>
          <a:xfrm>
            <a:off x="516481" y="169633"/>
            <a:ext cx="8534400" cy="1507067"/>
          </a:xfrm>
        </p:spPr>
        <p:txBody>
          <a:bodyPr>
            <a:normAutofit/>
          </a:bodyPr>
          <a:lstStyle/>
          <a:p>
            <a:r>
              <a:rPr lang="cs-CZ" dirty="0" err="1"/>
              <a:t>Baseline</a:t>
            </a:r>
            <a:endParaRPr lang="cs-CZ" dirty="0"/>
          </a:p>
        </p:txBody>
      </p:sp>
      <p:sp>
        <p:nvSpPr>
          <p:cNvPr id="3" name="Zástupný obsah 2">
            <a:extLst>
              <a:ext uri="{FF2B5EF4-FFF2-40B4-BE49-F238E27FC236}">
                <a16:creationId xmlns:a16="http://schemas.microsoft.com/office/drawing/2014/main" id="{88BA8DAB-4C50-49EE-9E8E-E3C040C00199}"/>
              </a:ext>
            </a:extLst>
          </p:cNvPr>
          <p:cNvSpPr>
            <a:spLocks noGrp="1"/>
          </p:cNvSpPr>
          <p:nvPr>
            <p:ph idx="1"/>
          </p:nvPr>
        </p:nvSpPr>
        <p:spPr>
          <a:xfrm>
            <a:off x="516480" y="1221193"/>
            <a:ext cx="11426475" cy="5467174"/>
          </a:xfrm>
        </p:spPr>
        <p:txBody>
          <a:bodyPr>
            <a:normAutofit fontScale="92500" lnSpcReduction="20000"/>
          </a:bodyPr>
          <a:lstStyle/>
          <a:p>
            <a:r>
              <a:rPr lang="cs-CZ" b="1" dirty="0" err="1"/>
              <a:t>Mean</a:t>
            </a:r>
            <a:r>
              <a:rPr lang="cs-CZ" b="1" dirty="0"/>
              <a:t> </a:t>
            </a:r>
            <a:r>
              <a:rPr lang="cs-CZ" b="1" dirty="0" err="1"/>
              <a:t>Color</a:t>
            </a:r>
            <a:r>
              <a:rPr lang="cs-CZ" b="1" dirty="0"/>
              <a:t> </a:t>
            </a:r>
            <a:r>
              <a:rPr lang="cs-CZ" b="1" dirty="0" err="1"/>
              <a:t>Baseline</a:t>
            </a:r>
            <a:endParaRPr lang="cs-CZ" b="1" dirty="0"/>
          </a:p>
          <a:p>
            <a:r>
              <a:rPr lang="cs-CZ" b="1" dirty="0"/>
              <a:t>Princip</a:t>
            </a:r>
          </a:p>
          <a:p>
            <a:pPr lvl="1"/>
            <a:r>
              <a:rPr lang="cs-CZ" dirty="0"/>
              <a:t>Spočítá průměrnou hodnotu kanálů A </a:t>
            </a:r>
            <a:r>
              <a:rPr lang="cs-CZ" dirty="0" err="1"/>
              <a:t>a</a:t>
            </a:r>
            <a:r>
              <a:rPr lang="cs-CZ" dirty="0"/>
              <a:t> B. </a:t>
            </a:r>
          </a:p>
          <a:p>
            <a:pPr lvl="1"/>
            <a:r>
              <a:rPr lang="cs-CZ" dirty="0"/>
              <a:t>Touto barvou vyplní celý obrázek. </a:t>
            </a:r>
          </a:p>
          <a:p>
            <a:r>
              <a:rPr lang="cs-CZ" b="1" dirty="0"/>
              <a:t>Výhody</a:t>
            </a:r>
          </a:p>
          <a:p>
            <a:pPr lvl="1"/>
            <a:r>
              <a:rPr lang="cs-CZ" dirty="0"/>
              <a:t>Extrémně jednoduchá metoda. </a:t>
            </a:r>
          </a:p>
          <a:p>
            <a:pPr lvl="1"/>
            <a:r>
              <a:rPr lang="cs-CZ" dirty="0"/>
              <a:t>Poskytuje referenční úroveň výkonu. </a:t>
            </a:r>
          </a:p>
          <a:p>
            <a:r>
              <a:rPr lang="cs-CZ" b="1" dirty="0"/>
              <a:t>Nevýhody</a:t>
            </a:r>
          </a:p>
          <a:p>
            <a:pPr lvl="1"/>
            <a:r>
              <a:rPr lang="cs-CZ" dirty="0"/>
              <a:t>Nerozlišuje objekty. </a:t>
            </a:r>
          </a:p>
          <a:p>
            <a:pPr lvl="1"/>
            <a:r>
              <a:rPr lang="cs-CZ" dirty="0"/>
              <a:t>Nevytváří lokální barevné detaily.</a:t>
            </a:r>
          </a:p>
          <a:p>
            <a:r>
              <a:rPr lang="cs-CZ" dirty="0"/>
              <a:t>Přestože </a:t>
            </a:r>
            <a:r>
              <a:rPr lang="cs-CZ" dirty="0" err="1"/>
              <a:t>Mean</a:t>
            </a:r>
            <a:r>
              <a:rPr lang="cs-CZ" dirty="0"/>
              <a:t> </a:t>
            </a:r>
            <a:r>
              <a:rPr lang="cs-CZ" dirty="0" err="1"/>
              <a:t>Color</a:t>
            </a:r>
            <a:r>
              <a:rPr lang="cs-CZ" dirty="0"/>
              <a:t> </a:t>
            </a:r>
            <a:r>
              <a:rPr lang="cs-CZ" dirty="0" err="1"/>
              <a:t>Baseline</a:t>
            </a:r>
            <a:r>
              <a:rPr lang="cs-CZ" dirty="0"/>
              <a:t> využívá informaci ze skutečných barevných kanálů A </a:t>
            </a:r>
            <a:r>
              <a:rPr lang="cs-CZ" dirty="0" err="1"/>
              <a:t>a</a:t>
            </a:r>
            <a:r>
              <a:rPr lang="cs-CZ" dirty="0"/>
              <a:t> B, nelze ji považovat za zcela nereálný referenční přístup. Při ručním obarvování historických fotografií by člověk pravděpodobně také vycházel z podobných barevných referencí, například z jiných fotografií stejného objektu, období nebo prostředí. </a:t>
            </a:r>
            <a:r>
              <a:rPr lang="cs-CZ" dirty="0" err="1"/>
              <a:t>Baseline</a:t>
            </a:r>
            <a:r>
              <a:rPr lang="cs-CZ" dirty="0"/>
              <a:t> tak do určité míry simuluje situaci, kdy je k dispozici externí znalost o typických barvách dané scény.</a:t>
            </a:r>
          </a:p>
          <a:p>
            <a:endParaRPr lang="cs-CZ" dirty="0"/>
          </a:p>
        </p:txBody>
      </p:sp>
      <p:pic>
        <p:nvPicPr>
          <p:cNvPr id="7" name="Obrázek 6">
            <a:extLst>
              <a:ext uri="{FF2B5EF4-FFF2-40B4-BE49-F238E27FC236}">
                <a16:creationId xmlns:a16="http://schemas.microsoft.com/office/drawing/2014/main" id="{53C27BA2-3D5B-E6E9-5EB9-5118141EECCA}"/>
              </a:ext>
            </a:extLst>
          </p:cNvPr>
          <p:cNvPicPr>
            <a:picLocks noChangeAspect="1"/>
          </p:cNvPicPr>
          <p:nvPr/>
        </p:nvPicPr>
        <p:blipFill>
          <a:blip r:embed="rId2"/>
          <a:stretch>
            <a:fillRect/>
          </a:stretch>
        </p:blipFill>
        <p:spPr>
          <a:xfrm>
            <a:off x="6096000" y="723270"/>
            <a:ext cx="5769579" cy="3777442"/>
          </a:xfrm>
          <a:prstGeom prst="rect">
            <a:avLst/>
          </a:prstGeom>
        </p:spPr>
      </p:pic>
    </p:spTree>
    <p:extLst>
      <p:ext uri="{BB962C8B-B14F-4D97-AF65-F5344CB8AC3E}">
        <p14:creationId xmlns:p14="http://schemas.microsoft.com/office/powerpoint/2010/main" val="10992771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AD326-B8E7-0EE9-9752-E377FB8242B2}"/>
            </a:ext>
          </a:extLst>
        </p:cNvPr>
        <p:cNvGrpSpPr/>
        <p:nvPr/>
      </p:nvGrpSpPr>
      <p:grpSpPr>
        <a:xfrm>
          <a:off x="0" y="0"/>
          <a:ext cx="0" cy="0"/>
          <a:chOff x="0" y="0"/>
          <a:chExt cx="0" cy="0"/>
        </a:xfrm>
      </p:grpSpPr>
      <p:pic>
        <p:nvPicPr>
          <p:cNvPr id="5" name="Obrázek 4">
            <a:extLst>
              <a:ext uri="{FF2B5EF4-FFF2-40B4-BE49-F238E27FC236}">
                <a16:creationId xmlns:a16="http://schemas.microsoft.com/office/drawing/2014/main" id="{66967FC4-5302-C6B7-4441-575E901C8379}"/>
              </a:ext>
            </a:extLst>
          </p:cNvPr>
          <p:cNvPicPr>
            <a:picLocks noChangeAspect="1"/>
          </p:cNvPicPr>
          <p:nvPr/>
        </p:nvPicPr>
        <p:blipFill>
          <a:blip r:embed="rId2"/>
          <a:stretch>
            <a:fillRect/>
          </a:stretch>
        </p:blipFill>
        <p:spPr>
          <a:xfrm>
            <a:off x="6509014" y="2728260"/>
            <a:ext cx="5571848" cy="3714565"/>
          </a:xfrm>
          <a:prstGeom prst="rect">
            <a:avLst/>
          </a:prstGeom>
        </p:spPr>
      </p:pic>
      <p:sp>
        <p:nvSpPr>
          <p:cNvPr id="2" name="Nadpis 1">
            <a:extLst>
              <a:ext uri="{FF2B5EF4-FFF2-40B4-BE49-F238E27FC236}">
                <a16:creationId xmlns:a16="http://schemas.microsoft.com/office/drawing/2014/main" id="{5E3E25DF-F090-C166-01D0-DB76C4A85AA9}"/>
              </a:ext>
            </a:extLst>
          </p:cNvPr>
          <p:cNvSpPr>
            <a:spLocks noGrp="1"/>
          </p:cNvSpPr>
          <p:nvPr>
            <p:ph type="title"/>
          </p:nvPr>
        </p:nvSpPr>
        <p:spPr>
          <a:xfrm>
            <a:off x="516481" y="169633"/>
            <a:ext cx="8534400" cy="1507067"/>
          </a:xfrm>
        </p:spPr>
        <p:txBody>
          <a:bodyPr>
            <a:normAutofit/>
          </a:bodyPr>
          <a:lstStyle/>
          <a:p>
            <a:r>
              <a:rPr lang="cs-CZ" dirty="0"/>
              <a:t>Architektury neuronových sítí</a:t>
            </a:r>
          </a:p>
        </p:txBody>
      </p:sp>
      <p:sp>
        <p:nvSpPr>
          <p:cNvPr id="3" name="Zástupný obsah 2">
            <a:extLst>
              <a:ext uri="{FF2B5EF4-FFF2-40B4-BE49-F238E27FC236}">
                <a16:creationId xmlns:a16="http://schemas.microsoft.com/office/drawing/2014/main" id="{923CBBDA-137B-37CB-6340-E94C34203EBC}"/>
              </a:ext>
            </a:extLst>
          </p:cNvPr>
          <p:cNvSpPr>
            <a:spLocks noGrp="1"/>
          </p:cNvSpPr>
          <p:nvPr>
            <p:ph idx="1"/>
          </p:nvPr>
        </p:nvSpPr>
        <p:spPr>
          <a:xfrm>
            <a:off x="516480" y="1221193"/>
            <a:ext cx="11426475" cy="5467174"/>
          </a:xfrm>
        </p:spPr>
        <p:txBody>
          <a:bodyPr>
            <a:normAutofit/>
          </a:bodyPr>
          <a:lstStyle/>
          <a:p>
            <a:pPr>
              <a:spcBef>
                <a:spcPts val="0"/>
              </a:spcBef>
            </a:pPr>
            <a:r>
              <a:rPr lang="cs-CZ" b="1" dirty="0" err="1"/>
              <a:t>Simple</a:t>
            </a:r>
            <a:r>
              <a:rPr lang="cs-CZ" b="1" dirty="0"/>
              <a:t> CNN</a:t>
            </a:r>
          </a:p>
          <a:p>
            <a:pPr>
              <a:spcBef>
                <a:spcPts val="0"/>
              </a:spcBef>
            </a:pPr>
            <a:r>
              <a:rPr lang="cs-CZ" b="1" dirty="0"/>
              <a:t>Zvolena jako „druhotná </a:t>
            </a:r>
            <a:r>
              <a:rPr lang="cs-CZ" b="1" dirty="0" err="1"/>
              <a:t>baseline</a:t>
            </a:r>
            <a:r>
              <a:rPr lang="cs-CZ" b="1" dirty="0"/>
              <a:t>“ pro porovnání</a:t>
            </a:r>
          </a:p>
          <a:p>
            <a:pPr lvl="1">
              <a:spcBef>
                <a:spcPts val="0"/>
              </a:spcBef>
            </a:pPr>
            <a:r>
              <a:rPr lang="cs-CZ" dirty="0"/>
              <a:t>3 konvoluční vrstvy. </a:t>
            </a:r>
          </a:p>
          <a:p>
            <a:pPr lvl="1">
              <a:spcBef>
                <a:spcPts val="0"/>
              </a:spcBef>
            </a:pPr>
            <a:r>
              <a:rPr lang="cs-CZ" dirty="0"/>
              <a:t>Predikce kanálů A </a:t>
            </a:r>
            <a:r>
              <a:rPr lang="cs-CZ" dirty="0" err="1"/>
              <a:t>a</a:t>
            </a:r>
            <a:r>
              <a:rPr lang="cs-CZ" dirty="0"/>
              <a:t> B. </a:t>
            </a:r>
          </a:p>
          <a:p>
            <a:pPr lvl="1">
              <a:spcBef>
                <a:spcPts val="0"/>
              </a:spcBef>
            </a:pPr>
            <a:r>
              <a:rPr lang="cs-CZ" dirty="0"/>
              <a:t>Využívá lokální obrazové informace.</a:t>
            </a:r>
          </a:p>
          <a:p>
            <a:pPr>
              <a:spcBef>
                <a:spcPts val="0"/>
              </a:spcBef>
            </a:pPr>
            <a:endParaRPr lang="cs-CZ" dirty="0"/>
          </a:p>
          <a:p>
            <a:pPr>
              <a:spcBef>
                <a:spcPts val="0"/>
              </a:spcBef>
            </a:pPr>
            <a:endParaRPr lang="cs-CZ" dirty="0"/>
          </a:p>
          <a:p>
            <a:pPr>
              <a:spcBef>
                <a:spcPts val="0"/>
              </a:spcBef>
            </a:pPr>
            <a:r>
              <a:rPr lang="cs-CZ" b="1" dirty="0"/>
              <a:t>U-Net</a:t>
            </a:r>
          </a:p>
          <a:p>
            <a:pPr lvl="1">
              <a:spcBef>
                <a:spcPts val="0"/>
              </a:spcBef>
            </a:pPr>
            <a:r>
              <a:rPr lang="cs-CZ" dirty="0" err="1"/>
              <a:t>Encoder</a:t>
            </a:r>
            <a:r>
              <a:rPr lang="cs-CZ" dirty="0"/>
              <a:t> + </a:t>
            </a:r>
            <a:r>
              <a:rPr lang="cs-CZ" dirty="0" err="1"/>
              <a:t>Decoder</a:t>
            </a:r>
            <a:r>
              <a:rPr lang="cs-CZ" dirty="0"/>
              <a:t>. </a:t>
            </a:r>
          </a:p>
          <a:p>
            <a:pPr lvl="1">
              <a:spcBef>
                <a:spcPts val="0"/>
              </a:spcBef>
            </a:pPr>
            <a:r>
              <a:rPr lang="cs-CZ" dirty="0"/>
              <a:t>Skip </a:t>
            </a:r>
            <a:r>
              <a:rPr lang="cs-CZ" dirty="0" err="1"/>
              <a:t>Connections</a:t>
            </a:r>
            <a:r>
              <a:rPr lang="cs-CZ" dirty="0"/>
              <a:t>. </a:t>
            </a:r>
          </a:p>
          <a:p>
            <a:pPr lvl="1">
              <a:spcBef>
                <a:spcPts val="0"/>
              </a:spcBef>
            </a:pPr>
            <a:r>
              <a:rPr lang="cs-CZ" dirty="0"/>
              <a:t>Kombinace lokálního a globálního kontextu. </a:t>
            </a:r>
          </a:p>
        </p:txBody>
      </p:sp>
    </p:spTree>
    <p:extLst>
      <p:ext uri="{BB962C8B-B14F-4D97-AF65-F5344CB8AC3E}">
        <p14:creationId xmlns:p14="http://schemas.microsoft.com/office/powerpoint/2010/main" val="2694001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71CF4-13DC-ABA7-DBEF-03F9B9491B69}"/>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1BF58EAE-64EF-6E83-0021-8FA926739AA5}"/>
              </a:ext>
            </a:extLst>
          </p:cNvPr>
          <p:cNvSpPr>
            <a:spLocks noGrp="1"/>
          </p:cNvSpPr>
          <p:nvPr>
            <p:ph type="title"/>
          </p:nvPr>
        </p:nvSpPr>
        <p:spPr>
          <a:xfrm>
            <a:off x="516481" y="169633"/>
            <a:ext cx="8534400" cy="1507067"/>
          </a:xfrm>
        </p:spPr>
        <p:txBody>
          <a:bodyPr>
            <a:normAutofit/>
          </a:bodyPr>
          <a:lstStyle/>
          <a:p>
            <a:r>
              <a:rPr lang="cs-CZ" dirty="0"/>
              <a:t>Výsledky provedených experimentů</a:t>
            </a:r>
          </a:p>
        </p:txBody>
      </p:sp>
      <p:sp>
        <p:nvSpPr>
          <p:cNvPr id="3" name="Zástupný obsah 2">
            <a:extLst>
              <a:ext uri="{FF2B5EF4-FFF2-40B4-BE49-F238E27FC236}">
                <a16:creationId xmlns:a16="http://schemas.microsoft.com/office/drawing/2014/main" id="{90863824-D267-0565-3056-E0DEF331C78F}"/>
              </a:ext>
            </a:extLst>
          </p:cNvPr>
          <p:cNvSpPr>
            <a:spLocks noGrp="1"/>
          </p:cNvSpPr>
          <p:nvPr>
            <p:ph idx="1"/>
          </p:nvPr>
        </p:nvSpPr>
        <p:spPr>
          <a:xfrm>
            <a:off x="516480" y="3901079"/>
            <a:ext cx="11426475" cy="2787287"/>
          </a:xfrm>
        </p:spPr>
        <p:txBody>
          <a:bodyPr>
            <a:normAutofit/>
          </a:bodyPr>
          <a:lstStyle/>
          <a:p>
            <a:r>
              <a:rPr lang="cs-CZ" dirty="0"/>
              <a:t>Od velikosti trénovací množiny 1000 obrázků začal U-Net konzistentně dosahovat lepších výsledků než </a:t>
            </a:r>
            <a:r>
              <a:rPr lang="cs-CZ" dirty="0" err="1"/>
              <a:t>Simple</a:t>
            </a:r>
            <a:r>
              <a:rPr lang="cs-CZ" dirty="0"/>
              <a:t> CNN.</a:t>
            </a:r>
          </a:p>
          <a:p>
            <a:r>
              <a:rPr lang="cs-CZ" dirty="0"/>
              <a:t>Od WS2 byl implementován jednoduchý Early </a:t>
            </a:r>
            <a:r>
              <a:rPr lang="cs-CZ" dirty="0" err="1"/>
              <a:t>Stopping</a:t>
            </a:r>
            <a:r>
              <a:rPr lang="cs-CZ" dirty="0"/>
              <a:t> a ukládání nejlepšího modelu podle validační chyby. Výsledky ukazují, že s rostoucí velikostí trénovací množiny začíná architektura U-Net dosahovat lepších výsledků než </a:t>
            </a:r>
            <a:r>
              <a:rPr lang="cs-CZ" dirty="0" err="1"/>
              <a:t>Simple</a:t>
            </a:r>
            <a:r>
              <a:rPr lang="cs-CZ" dirty="0"/>
              <a:t> CNN. Rozdíl je nejvýraznější při velikosti trénovací množiny 2000 obrázků, kde U-Net dosahuje přibližně o 11 % nižší MSE než </a:t>
            </a:r>
            <a:r>
              <a:rPr lang="cs-CZ" dirty="0" err="1"/>
              <a:t>Simple</a:t>
            </a:r>
            <a:r>
              <a:rPr lang="cs-CZ" dirty="0"/>
              <a:t> CNN.</a:t>
            </a:r>
          </a:p>
        </p:txBody>
      </p:sp>
      <p:pic>
        <p:nvPicPr>
          <p:cNvPr id="14" name="Obrázek 13">
            <a:extLst>
              <a:ext uri="{FF2B5EF4-FFF2-40B4-BE49-F238E27FC236}">
                <a16:creationId xmlns:a16="http://schemas.microsoft.com/office/drawing/2014/main" id="{82072864-1F4F-04E8-9A3D-173D67913F6C}"/>
              </a:ext>
            </a:extLst>
          </p:cNvPr>
          <p:cNvPicPr>
            <a:picLocks noChangeAspect="1"/>
          </p:cNvPicPr>
          <p:nvPr/>
        </p:nvPicPr>
        <p:blipFill>
          <a:blip r:embed="rId2"/>
          <a:stretch>
            <a:fillRect/>
          </a:stretch>
        </p:blipFill>
        <p:spPr>
          <a:xfrm>
            <a:off x="509879" y="1620973"/>
            <a:ext cx="11433076" cy="2035207"/>
          </a:xfrm>
          <a:prstGeom prst="rect">
            <a:avLst/>
          </a:prstGeom>
        </p:spPr>
      </p:pic>
    </p:spTree>
    <p:extLst>
      <p:ext uri="{BB962C8B-B14F-4D97-AF65-F5344CB8AC3E}">
        <p14:creationId xmlns:p14="http://schemas.microsoft.com/office/powerpoint/2010/main" val="12745094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A58FF-950F-1280-2ECA-DB52530B182A}"/>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41A8BFBD-DCE9-CE73-AF06-B73105CA9914}"/>
              </a:ext>
            </a:extLst>
          </p:cNvPr>
          <p:cNvSpPr>
            <a:spLocks noGrp="1"/>
          </p:cNvSpPr>
          <p:nvPr>
            <p:ph type="title"/>
          </p:nvPr>
        </p:nvSpPr>
        <p:spPr>
          <a:xfrm>
            <a:off x="516481" y="169633"/>
            <a:ext cx="6447485" cy="1507067"/>
          </a:xfrm>
        </p:spPr>
        <p:txBody>
          <a:bodyPr>
            <a:normAutofit fontScale="90000"/>
          </a:bodyPr>
          <a:lstStyle/>
          <a:p>
            <a:r>
              <a:rPr lang="cs-CZ" dirty="0"/>
              <a:t>Grafické výsledky WS5</a:t>
            </a:r>
            <a:br>
              <a:rPr lang="cs-CZ" dirty="0"/>
            </a:br>
            <a:br>
              <a:rPr lang="cs-CZ" dirty="0"/>
            </a:br>
            <a:r>
              <a:rPr lang="cs-CZ" sz="1600" dirty="0"/>
              <a:t>Zleva:   Původní RGB | Vstupní L | </a:t>
            </a:r>
            <a:r>
              <a:rPr lang="cs-CZ" sz="1600" dirty="0" err="1"/>
              <a:t>Mean</a:t>
            </a:r>
            <a:r>
              <a:rPr lang="cs-CZ" sz="1600" dirty="0"/>
              <a:t> </a:t>
            </a:r>
            <a:r>
              <a:rPr lang="cs-CZ" sz="1600" dirty="0" err="1"/>
              <a:t>Baseline</a:t>
            </a:r>
            <a:r>
              <a:rPr lang="cs-CZ" sz="1600" dirty="0"/>
              <a:t> | </a:t>
            </a:r>
            <a:r>
              <a:rPr lang="cs-CZ" sz="1600" dirty="0" err="1"/>
              <a:t>Simple</a:t>
            </a:r>
            <a:r>
              <a:rPr lang="cs-CZ" sz="1600" dirty="0"/>
              <a:t> CNN | U-Net</a:t>
            </a:r>
          </a:p>
        </p:txBody>
      </p:sp>
      <p:pic>
        <p:nvPicPr>
          <p:cNvPr id="7" name="Zástupný obsah 6">
            <a:extLst>
              <a:ext uri="{FF2B5EF4-FFF2-40B4-BE49-F238E27FC236}">
                <a16:creationId xmlns:a16="http://schemas.microsoft.com/office/drawing/2014/main" id="{FCB29541-5100-CE63-9C81-623D42CF8911}"/>
              </a:ext>
            </a:extLst>
          </p:cNvPr>
          <p:cNvPicPr>
            <a:picLocks noGrp="1" noChangeAspect="1"/>
          </p:cNvPicPr>
          <p:nvPr>
            <p:ph idx="1"/>
          </p:nvPr>
        </p:nvPicPr>
        <p:blipFill>
          <a:blip r:embed="rId2"/>
          <a:stretch>
            <a:fillRect/>
          </a:stretch>
        </p:blipFill>
        <p:spPr>
          <a:xfrm>
            <a:off x="204473" y="1760971"/>
            <a:ext cx="6174684" cy="3750268"/>
          </a:xfrm>
          <a:prstGeom prst="rect">
            <a:avLst/>
          </a:prstGeom>
        </p:spPr>
      </p:pic>
      <p:pic>
        <p:nvPicPr>
          <p:cNvPr id="9" name="Obrázek 8">
            <a:extLst>
              <a:ext uri="{FF2B5EF4-FFF2-40B4-BE49-F238E27FC236}">
                <a16:creationId xmlns:a16="http://schemas.microsoft.com/office/drawing/2014/main" id="{6EC5AA70-7826-8990-3F1E-1DAD1DEF2C01}"/>
              </a:ext>
            </a:extLst>
          </p:cNvPr>
          <p:cNvPicPr>
            <a:picLocks noChangeAspect="1"/>
          </p:cNvPicPr>
          <p:nvPr/>
        </p:nvPicPr>
        <p:blipFill>
          <a:blip r:embed="rId3"/>
          <a:stretch>
            <a:fillRect/>
          </a:stretch>
        </p:blipFill>
        <p:spPr>
          <a:xfrm>
            <a:off x="6963966" y="363200"/>
            <a:ext cx="4874539" cy="3272905"/>
          </a:xfrm>
          <a:prstGeom prst="rect">
            <a:avLst/>
          </a:prstGeom>
        </p:spPr>
      </p:pic>
      <p:pic>
        <p:nvPicPr>
          <p:cNvPr id="11" name="Obrázek 10">
            <a:extLst>
              <a:ext uri="{FF2B5EF4-FFF2-40B4-BE49-F238E27FC236}">
                <a16:creationId xmlns:a16="http://schemas.microsoft.com/office/drawing/2014/main" id="{890B385F-0906-9832-0CE4-8299B547EF3F}"/>
              </a:ext>
            </a:extLst>
          </p:cNvPr>
          <p:cNvPicPr>
            <a:picLocks noChangeAspect="1"/>
          </p:cNvPicPr>
          <p:nvPr/>
        </p:nvPicPr>
        <p:blipFill>
          <a:blip r:embed="rId4"/>
          <a:stretch>
            <a:fillRect/>
          </a:stretch>
        </p:blipFill>
        <p:spPr>
          <a:xfrm>
            <a:off x="7382522" y="3960637"/>
            <a:ext cx="4037426" cy="2646570"/>
          </a:xfrm>
          <a:prstGeom prst="rect">
            <a:avLst/>
          </a:prstGeom>
        </p:spPr>
      </p:pic>
      <p:sp>
        <p:nvSpPr>
          <p:cNvPr id="3" name="TextovéPole 2">
            <a:extLst>
              <a:ext uri="{FF2B5EF4-FFF2-40B4-BE49-F238E27FC236}">
                <a16:creationId xmlns:a16="http://schemas.microsoft.com/office/drawing/2014/main" id="{A4FE82F9-D53E-97B1-97CD-4119DBAB4820}"/>
              </a:ext>
            </a:extLst>
          </p:cNvPr>
          <p:cNvSpPr txBox="1"/>
          <p:nvPr/>
        </p:nvSpPr>
        <p:spPr>
          <a:xfrm>
            <a:off x="204473" y="5595510"/>
            <a:ext cx="6925633" cy="923330"/>
          </a:xfrm>
          <a:prstGeom prst="rect">
            <a:avLst/>
          </a:prstGeom>
          <a:noFill/>
        </p:spPr>
        <p:txBody>
          <a:bodyPr wrap="square" rtlCol="0">
            <a:spAutoFit/>
          </a:bodyPr>
          <a:lstStyle/>
          <a:p>
            <a:r>
              <a:rPr lang="cs-CZ" dirty="0" err="1"/>
              <a:t>Mean</a:t>
            </a:r>
            <a:r>
              <a:rPr lang="cs-CZ" dirty="0"/>
              <a:t> </a:t>
            </a:r>
            <a:r>
              <a:rPr lang="cs-CZ" dirty="0" err="1"/>
              <a:t>Baseline</a:t>
            </a:r>
            <a:r>
              <a:rPr lang="cs-CZ" dirty="0"/>
              <a:t> sice dosahuje nejlepší numerické chyby, ale ve skutečnosti nevytváří realistické lokální barvy. Naproti tomu CNN a U-Net dokáží alespoň částečně respektovat strukturu obrazu.</a:t>
            </a:r>
          </a:p>
        </p:txBody>
      </p:sp>
    </p:spTree>
    <p:extLst>
      <p:ext uri="{BB962C8B-B14F-4D97-AF65-F5344CB8AC3E}">
        <p14:creationId xmlns:p14="http://schemas.microsoft.com/office/powerpoint/2010/main" val="3492066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C70D7-0A0E-EA90-9D9A-57F4D19D209A}"/>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2B9CF649-0197-3B00-6601-5A1A84E812EA}"/>
              </a:ext>
            </a:extLst>
          </p:cNvPr>
          <p:cNvSpPr>
            <a:spLocks noGrp="1"/>
          </p:cNvSpPr>
          <p:nvPr>
            <p:ph type="title"/>
          </p:nvPr>
        </p:nvSpPr>
        <p:spPr>
          <a:xfrm>
            <a:off x="516481" y="169633"/>
            <a:ext cx="8534400" cy="1507067"/>
          </a:xfrm>
        </p:spPr>
        <p:txBody>
          <a:bodyPr>
            <a:normAutofit/>
          </a:bodyPr>
          <a:lstStyle/>
          <a:p>
            <a:r>
              <a:rPr lang="cs-CZ" dirty="0"/>
              <a:t>Diskuse</a:t>
            </a:r>
          </a:p>
        </p:txBody>
      </p:sp>
      <p:sp>
        <p:nvSpPr>
          <p:cNvPr id="3" name="Zástupný obsah 2">
            <a:extLst>
              <a:ext uri="{FF2B5EF4-FFF2-40B4-BE49-F238E27FC236}">
                <a16:creationId xmlns:a16="http://schemas.microsoft.com/office/drawing/2014/main" id="{EB69A4EF-5490-5297-368C-5D63A3564819}"/>
              </a:ext>
            </a:extLst>
          </p:cNvPr>
          <p:cNvSpPr>
            <a:spLocks noGrp="1"/>
          </p:cNvSpPr>
          <p:nvPr>
            <p:ph idx="1"/>
          </p:nvPr>
        </p:nvSpPr>
        <p:spPr>
          <a:xfrm>
            <a:off x="516480" y="1504161"/>
            <a:ext cx="11426475" cy="5184206"/>
          </a:xfrm>
        </p:spPr>
        <p:txBody>
          <a:bodyPr>
            <a:normAutofit fontScale="92500" lnSpcReduction="20000"/>
          </a:bodyPr>
          <a:lstStyle/>
          <a:p>
            <a:r>
              <a:rPr lang="cs-CZ" b="1" dirty="0"/>
              <a:t>Pozorování</a:t>
            </a:r>
          </a:p>
          <a:p>
            <a:pPr lvl="1"/>
            <a:r>
              <a:rPr lang="cs-CZ" dirty="0"/>
              <a:t>U-Net dosahoval mírně lepších výsledků než </a:t>
            </a:r>
            <a:r>
              <a:rPr lang="cs-CZ" dirty="0" err="1"/>
              <a:t>Simple</a:t>
            </a:r>
            <a:r>
              <a:rPr lang="cs-CZ" dirty="0"/>
              <a:t> CNN. </a:t>
            </a:r>
          </a:p>
          <a:p>
            <a:pPr lvl="1"/>
            <a:r>
              <a:rPr lang="cs-CZ" dirty="0"/>
              <a:t>S rostoucím počtem trénovacích dat se výsledky zlepšovaly. </a:t>
            </a:r>
          </a:p>
          <a:p>
            <a:pPr lvl="1"/>
            <a:r>
              <a:rPr lang="cs-CZ" dirty="0"/>
              <a:t>Nejlepší MSE dosáhla </a:t>
            </a:r>
            <a:r>
              <a:rPr lang="cs-CZ" dirty="0" err="1"/>
              <a:t>Mean</a:t>
            </a:r>
            <a:r>
              <a:rPr lang="cs-CZ" dirty="0"/>
              <a:t> </a:t>
            </a:r>
            <a:r>
              <a:rPr lang="cs-CZ" dirty="0" err="1"/>
              <a:t>Baseline</a:t>
            </a:r>
            <a:r>
              <a:rPr lang="cs-CZ" dirty="0"/>
              <a:t>. </a:t>
            </a:r>
          </a:p>
          <a:p>
            <a:r>
              <a:rPr lang="cs-CZ" b="1" dirty="0"/>
              <a:t>Omezení</a:t>
            </a:r>
          </a:p>
          <a:p>
            <a:pPr lvl="1"/>
            <a:r>
              <a:rPr lang="cs-CZ" dirty="0" err="1"/>
              <a:t>Baseline</a:t>
            </a:r>
            <a:r>
              <a:rPr lang="cs-CZ" dirty="0"/>
              <a:t> využívá informaci ze skutečných barevných kanálů. </a:t>
            </a:r>
          </a:p>
          <a:p>
            <a:pPr lvl="1"/>
            <a:r>
              <a:rPr lang="cs-CZ" dirty="0" err="1"/>
              <a:t>Dataset</a:t>
            </a:r>
            <a:r>
              <a:rPr lang="cs-CZ" dirty="0"/>
              <a:t> CIFAR-10 obsahuje pouze malé obrázky 32×32 </a:t>
            </a:r>
            <a:r>
              <a:rPr lang="cs-CZ" dirty="0" err="1"/>
              <a:t>px</a:t>
            </a:r>
            <a:r>
              <a:rPr lang="cs-CZ" dirty="0"/>
              <a:t>. </a:t>
            </a:r>
          </a:p>
          <a:p>
            <a:pPr lvl="1"/>
            <a:r>
              <a:rPr lang="cs-CZ" dirty="0"/>
              <a:t>Barevnost některých objektů nelze jednoznačně odhadnout pouze z jasu.</a:t>
            </a:r>
          </a:p>
          <a:p>
            <a:pPr lvl="1"/>
            <a:r>
              <a:rPr lang="cs-CZ" dirty="0"/>
              <a:t>Modely byly trénovány a testovány výhradně na </a:t>
            </a:r>
            <a:r>
              <a:rPr lang="cs-CZ" dirty="0" err="1"/>
              <a:t>datasetu</a:t>
            </a:r>
            <a:r>
              <a:rPr lang="cs-CZ" dirty="0"/>
              <a:t> CIFAR-10 (32×32 </a:t>
            </a:r>
            <a:r>
              <a:rPr lang="cs-CZ" dirty="0" err="1"/>
              <a:t>px</a:t>
            </a:r>
            <a:r>
              <a:rPr lang="cs-CZ" dirty="0"/>
              <a:t>). Z tohoto důvodu nebyla provedena aplikace na skutečné historické černobílé fotografie, protože by se jednalo o výrazně odlišný typ dat, než na kterém byly modely trénovány.</a:t>
            </a:r>
          </a:p>
          <a:p>
            <a:endParaRPr lang="cs-CZ" dirty="0"/>
          </a:p>
          <a:p>
            <a:r>
              <a:rPr lang="cs-CZ" dirty="0" err="1"/>
              <a:t>Simple</a:t>
            </a:r>
            <a:r>
              <a:rPr lang="cs-CZ" dirty="0"/>
              <a:t> CNN i U-Net byly trénovány se stejnou ztrátovou funkcí (MSE), stejným optimalizátorem Adam a stejným vstupem (L kanál).</a:t>
            </a:r>
          </a:p>
          <a:p>
            <a:r>
              <a:rPr lang="cs-CZ" dirty="0"/>
              <a:t>Výsledky potvrzují, že kvalita modelu je výrazně ovlivněna velikostí trénovací množiny.</a:t>
            </a:r>
          </a:p>
          <a:p>
            <a:endParaRPr lang="cs-CZ" dirty="0"/>
          </a:p>
        </p:txBody>
      </p:sp>
    </p:spTree>
    <p:extLst>
      <p:ext uri="{BB962C8B-B14F-4D97-AF65-F5344CB8AC3E}">
        <p14:creationId xmlns:p14="http://schemas.microsoft.com/office/powerpoint/2010/main" val="1660734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720F2-BB00-F1E5-FDF7-F0AB9A03C83F}"/>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811F7D12-33D6-F11D-5070-E9DB904699E5}"/>
              </a:ext>
            </a:extLst>
          </p:cNvPr>
          <p:cNvSpPr>
            <a:spLocks noGrp="1"/>
          </p:cNvSpPr>
          <p:nvPr>
            <p:ph type="title"/>
          </p:nvPr>
        </p:nvSpPr>
        <p:spPr>
          <a:xfrm>
            <a:off x="516481" y="169633"/>
            <a:ext cx="8534400" cy="1507067"/>
          </a:xfrm>
        </p:spPr>
        <p:txBody>
          <a:bodyPr>
            <a:normAutofit/>
          </a:bodyPr>
          <a:lstStyle/>
          <a:p>
            <a:r>
              <a:rPr lang="cs-CZ" dirty="0"/>
              <a:t>Možná vylepšení</a:t>
            </a:r>
          </a:p>
        </p:txBody>
      </p:sp>
      <p:sp>
        <p:nvSpPr>
          <p:cNvPr id="3" name="Zástupný obsah 2">
            <a:extLst>
              <a:ext uri="{FF2B5EF4-FFF2-40B4-BE49-F238E27FC236}">
                <a16:creationId xmlns:a16="http://schemas.microsoft.com/office/drawing/2014/main" id="{59E95DE9-F2B8-D620-20B2-9A0F98383F77}"/>
              </a:ext>
            </a:extLst>
          </p:cNvPr>
          <p:cNvSpPr>
            <a:spLocks noGrp="1"/>
          </p:cNvSpPr>
          <p:nvPr>
            <p:ph idx="1"/>
          </p:nvPr>
        </p:nvSpPr>
        <p:spPr>
          <a:xfrm>
            <a:off x="516481" y="1221193"/>
            <a:ext cx="5025676" cy="5467174"/>
          </a:xfrm>
        </p:spPr>
        <p:txBody>
          <a:bodyPr>
            <a:normAutofit/>
          </a:bodyPr>
          <a:lstStyle/>
          <a:p>
            <a:r>
              <a:rPr lang="cs-CZ" b="1" dirty="0"/>
              <a:t>Více dat</a:t>
            </a:r>
          </a:p>
          <a:p>
            <a:pPr lvl="1"/>
            <a:r>
              <a:rPr lang="cs-CZ" dirty="0"/>
              <a:t>větší trénovací množina </a:t>
            </a:r>
          </a:p>
          <a:p>
            <a:pPr lvl="1"/>
            <a:r>
              <a:rPr lang="cs-CZ" dirty="0"/>
              <a:t>vyšší rozlišení </a:t>
            </a:r>
          </a:p>
          <a:p>
            <a:r>
              <a:rPr lang="cs-CZ" b="1" dirty="0"/>
              <a:t>Lepší modely</a:t>
            </a:r>
          </a:p>
          <a:p>
            <a:pPr lvl="1"/>
            <a:r>
              <a:rPr lang="cs-CZ" dirty="0"/>
              <a:t>Vision </a:t>
            </a:r>
            <a:r>
              <a:rPr lang="cs-CZ" dirty="0" err="1"/>
              <a:t>Transformer</a:t>
            </a:r>
            <a:r>
              <a:rPr lang="cs-CZ" dirty="0"/>
              <a:t> (</a:t>
            </a:r>
            <a:r>
              <a:rPr lang="cs-CZ" dirty="0" err="1"/>
              <a:t>ViT</a:t>
            </a:r>
            <a:r>
              <a:rPr lang="cs-CZ" dirty="0"/>
              <a:t>) </a:t>
            </a:r>
          </a:p>
          <a:p>
            <a:pPr lvl="1"/>
            <a:r>
              <a:rPr lang="cs-CZ" dirty="0"/>
              <a:t>CLIP </a:t>
            </a:r>
          </a:p>
          <a:p>
            <a:pPr lvl="1"/>
            <a:r>
              <a:rPr lang="cs-CZ" dirty="0"/>
              <a:t>moderní </a:t>
            </a:r>
            <a:r>
              <a:rPr lang="cs-CZ" dirty="0" err="1"/>
              <a:t>colorization</a:t>
            </a:r>
            <a:r>
              <a:rPr lang="cs-CZ" dirty="0"/>
              <a:t> modely </a:t>
            </a:r>
          </a:p>
          <a:p>
            <a:endParaRPr lang="cs-CZ" dirty="0"/>
          </a:p>
        </p:txBody>
      </p:sp>
      <p:sp>
        <p:nvSpPr>
          <p:cNvPr id="5" name="Zástupný obsah 2">
            <a:extLst>
              <a:ext uri="{FF2B5EF4-FFF2-40B4-BE49-F238E27FC236}">
                <a16:creationId xmlns:a16="http://schemas.microsoft.com/office/drawing/2014/main" id="{3BC5B59C-D7BC-48B4-39AC-D50B4B431B60}"/>
              </a:ext>
            </a:extLst>
          </p:cNvPr>
          <p:cNvSpPr txBox="1">
            <a:spLocks/>
          </p:cNvSpPr>
          <p:nvPr/>
        </p:nvSpPr>
        <p:spPr>
          <a:xfrm>
            <a:off x="5619626" y="1048953"/>
            <a:ext cx="5025676" cy="5467174"/>
          </a:xfrm>
          <a:prstGeom prst="rect">
            <a:avLst/>
          </a:prstGeom>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r>
              <a:rPr lang="cs-CZ" b="1" dirty="0"/>
              <a:t>Využití kontextu</a:t>
            </a:r>
          </a:p>
          <a:p>
            <a:pPr lvl="1"/>
            <a:r>
              <a:rPr lang="cs-CZ" dirty="0"/>
              <a:t>typ scény </a:t>
            </a:r>
          </a:p>
          <a:p>
            <a:pPr lvl="1"/>
            <a:r>
              <a:rPr lang="cs-CZ" dirty="0"/>
              <a:t>geografická lokalita </a:t>
            </a:r>
          </a:p>
          <a:p>
            <a:pPr lvl="1"/>
            <a:r>
              <a:rPr lang="cs-CZ" dirty="0"/>
              <a:t>období vzniku fotografie </a:t>
            </a:r>
          </a:p>
          <a:p>
            <a:pPr lvl="1"/>
            <a:r>
              <a:rPr lang="cs-CZ" dirty="0"/>
              <a:t>segmentace objektů</a:t>
            </a:r>
          </a:p>
          <a:p>
            <a:pPr lvl="1"/>
            <a:r>
              <a:rPr lang="cs-CZ" dirty="0"/>
              <a:t>Zařízení použité pro snímek</a:t>
            </a:r>
          </a:p>
          <a:p>
            <a:endParaRPr lang="cs-CZ" dirty="0"/>
          </a:p>
        </p:txBody>
      </p:sp>
    </p:spTree>
    <p:extLst>
      <p:ext uri="{BB962C8B-B14F-4D97-AF65-F5344CB8AC3E}">
        <p14:creationId xmlns:p14="http://schemas.microsoft.com/office/powerpoint/2010/main" val="32599459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2965D-71F7-E60B-DE96-BCF09B0D2599}"/>
            </a:ext>
          </a:extLst>
        </p:cNvPr>
        <p:cNvGrpSpPr/>
        <p:nvPr/>
      </p:nvGrpSpPr>
      <p:grpSpPr>
        <a:xfrm>
          <a:off x="0" y="0"/>
          <a:ext cx="0" cy="0"/>
          <a:chOff x="0" y="0"/>
          <a:chExt cx="0" cy="0"/>
        </a:xfrm>
      </p:grpSpPr>
      <p:sp>
        <p:nvSpPr>
          <p:cNvPr id="2" name="Nadpis 1">
            <a:extLst>
              <a:ext uri="{FF2B5EF4-FFF2-40B4-BE49-F238E27FC236}">
                <a16:creationId xmlns:a16="http://schemas.microsoft.com/office/drawing/2014/main" id="{DAF401A5-7F8A-85C9-ADE3-FB10D90F4E5B}"/>
              </a:ext>
            </a:extLst>
          </p:cNvPr>
          <p:cNvSpPr>
            <a:spLocks noGrp="1"/>
          </p:cNvSpPr>
          <p:nvPr>
            <p:ph type="title"/>
          </p:nvPr>
        </p:nvSpPr>
        <p:spPr>
          <a:xfrm>
            <a:off x="516481" y="169633"/>
            <a:ext cx="8534400" cy="1507067"/>
          </a:xfrm>
        </p:spPr>
        <p:txBody>
          <a:bodyPr>
            <a:normAutofit/>
          </a:bodyPr>
          <a:lstStyle/>
          <a:p>
            <a:r>
              <a:rPr lang="cs-CZ" dirty="0"/>
              <a:t>Závěr a zdroje</a:t>
            </a:r>
          </a:p>
        </p:txBody>
      </p:sp>
      <p:sp>
        <p:nvSpPr>
          <p:cNvPr id="3" name="Zástupný obsah 2">
            <a:extLst>
              <a:ext uri="{FF2B5EF4-FFF2-40B4-BE49-F238E27FC236}">
                <a16:creationId xmlns:a16="http://schemas.microsoft.com/office/drawing/2014/main" id="{FADA5464-EB84-B639-A32C-6215B94EAA53}"/>
              </a:ext>
            </a:extLst>
          </p:cNvPr>
          <p:cNvSpPr>
            <a:spLocks noGrp="1"/>
          </p:cNvSpPr>
          <p:nvPr>
            <p:ph idx="1"/>
          </p:nvPr>
        </p:nvSpPr>
        <p:spPr>
          <a:xfrm>
            <a:off x="516481" y="1221193"/>
            <a:ext cx="11478932" cy="2290320"/>
          </a:xfrm>
        </p:spPr>
        <p:txBody>
          <a:bodyPr>
            <a:normAutofit/>
          </a:bodyPr>
          <a:lstStyle/>
          <a:p>
            <a:r>
              <a:rPr lang="cs-CZ" dirty="0"/>
              <a:t>Cílem bylo navrhnout model pro automatické obarvování černobílých fotografií.</a:t>
            </a:r>
          </a:p>
          <a:p>
            <a:r>
              <a:rPr lang="cs-CZ" dirty="0"/>
              <a:t>Experiment ukázal, že architektura U-Net dosahuje při větších trénovacích množinách lepších výsledků než jednoduchá CNN. Současně se potvrdilo, že množství trénovacích dat má zásadní vliv na kvalitu obarvení. Další zlepšení lze očekávat při použití větších </a:t>
            </a:r>
            <a:r>
              <a:rPr lang="cs-CZ" dirty="0" err="1"/>
              <a:t>datasetů</a:t>
            </a:r>
            <a:r>
              <a:rPr lang="cs-CZ" dirty="0"/>
              <a:t>, vyššího rozlišení a modernějších architektur.</a:t>
            </a:r>
          </a:p>
          <a:p>
            <a:endParaRPr lang="cs-CZ" dirty="0"/>
          </a:p>
        </p:txBody>
      </p:sp>
      <p:sp>
        <p:nvSpPr>
          <p:cNvPr id="4" name="Zástupný obsah 2">
            <a:extLst>
              <a:ext uri="{FF2B5EF4-FFF2-40B4-BE49-F238E27FC236}">
                <a16:creationId xmlns:a16="http://schemas.microsoft.com/office/drawing/2014/main" id="{DBA9A6CC-75FA-E387-52D4-69A0387390EB}"/>
              </a:ext>
            </a:extLst>
          </p:cNvPr>
          <p:cNvSpPr txBox="1">
            <a:spLocks/>
          </p:cNvSpPr>
          <p:nvPr/>
        </p:nvSpPr>
        <p:spPr>
          <a:xfrm>
            <a:off x="5542157" y="1221193"/>
            <a:ext cx="5025676" cy="5467174"/>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a:lstStyle>
          <a:p>
            <a:endParaRPr lang="cs-CZ" dirty="0"/>
          </a:p>
        </p:txBody>
      </p:sp>
      <p:sp>
        <p:nvSpPr>
          <p:cNvPr id="5" name="Zástupný obsah 2">
            <a:extLst>
              <a:ext uri="{FF2B5EF4-FFF2-40B4-BE49-F238E27FC236}">
                <a16:creationId xmlns:a16="http://schemas.microsoft.com/office/drawing/2014/main" id="{D73EAA4C-0477-1D9B-EC90-531132775CA9}"/>
              </a:ext>
            </a:extLst>
          </p:cNvPr>
          <p:cNvSpPr txBox="1">
            <a:spLocks/>
          </p:cNvSpPr>
          <p:nvPr/>
        </p:nvSpPr>
        <p:spPr>
          <a:xfrm>
            <a:off x="356534" y="3614315"/>
            <a:ext cx="11478932" cy="2765744"/>
          </a:xfrm>
          <a:prstGeom prst="rect">
            <a:avLst/>
          </a:prstGeom>
        </p:spPr>
        <p:txBody>
          <a:bodyPr vert="horz" lIns="91440" tIns="45720" rIns="91440" bIns="45720" rtlCol="0" anchor="ctr">
            <a:normAutofit fontScale="70000" lnSpcReduction="20000"/>
          </a:bodyPr>
          <a:lst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a:lstStyle>
          <a:p>
            <a:pPr>
              <a:spcBef>
                <a:spcPts val="0"/>
              </a:spcBef>
            </a:pPr>
            <a:r>
              <a:rPr lang="cs-CZ" b="1" dirty="0" err="1"/>
              <a:t>Dataset</a:t>
            </a:r>
            <a:endParaRPr lang="cs-CZ" b="1" dirty="0"/>
          </a:p>
          <a:p>
            <a:pPr lvl="1">
              <a:spcBef>
                <a:spcPts val="0"/>
              </a:spcBef>
            </a:pPr>
            <a:r>
              <a:rPr lang="cs-CZ" dirty="0">
                <a:hlinkClick r:id="rId2"/>
              </a:rPr>
              <a:t>CIFAR-10 </a:t>
            </a:r>
            <a:r>
              <a:rPr lang="cs-CZ" dirty="0" err="1">
                <a:hlinkClick r:id="rId2"/>
              </a:rPr>
              <a:t>Dataset</a:t>
            </a:r>
            <a:r>
              <a:rPr lang="cs-CZ" dirty="0"/>
              <a:t> </a:t>
            </a:r>
          </a:p>
          <a:p>
            <a:pPr lvl="1">
              <a:spcBef>
                <a:spcPts val="0"/>
              </a:spcBef>
            </a:pPr>
            <a:r>
              <a:rPr lang="cs-CZ" dirty="0" err="1">
                <a:hlinkClick r:id="rId3"/>
              </a:rPr>
              <a:t>Torchvision</a:t>
            </a:r>
            <a:r>
              <a:rPr lang="cs-CZ" dirty="0">
                <a:hlinkClick r:id="rId3"/>
              </a:rPr>
              <a:t> CIFAR-10 </a:t>
            </a:r>
            <a:r>
              <a:rPr lang="cs-CZ" dirty="0" err="1">
                <a:hlinkClick r:id="rId3"/>
              </a:rPr>
              <a:t>Documentation</a:t>
            </a:r>
            <a:r>
              <a:rPr lang="cs-CZ" dirty="0"/>
              <a:t> </a:t>
            </a:r>
          </a:p>
          <a:p>
            <a:pPr>
              <a:spcBef>
                <a:spcPts val="0"/>
              </a:spcBef>
            </a:pPr>
            <a:r>
              <a:rPr lang="cs-CZ" b="1" dirty="0"/>
              <a:t>Neuronové sítě</a:t>
            </a:r>
          </a:p>
          <a:p>
            <a:pPr lvl="1">
              <a:spcBef>
                <a:spcPts val="0"/>
              </a:spcBef>
            </a:pPr>
            <a:r>
              <a:rPr lang="cs-CZ" dirty="0" err="1">
                <a:hlinkClick r:id="rId4"/>
              </a:rPr>
              <a:t>Deep</a:t>
            </a:r>
            <a:r>
              <a:rPr lang="cs-CZ" dirty="0">
                <a:hlinkClick r:id="rId4"/>
              </a:rPr>
              <a:t> Learning (</a:t>
            </a:r>
            <a:r>
              <a:rPr lang="cs-CZ" dirty="0" err="1">
                <a:hlinkClick r:id="rId4"/>
              </a:rPr>
              <a:t>Goodfellow</a:t>
            </a:r>
            <a:r>
              <a:rPr lang="cs-CZ" dirty="0">
                <a:hlinkClick r:id="rId4"/>
              </a:rPr>
              <a:t>, </a:t>
            </a:r>
            <a:r>
              <a:rPr lang="cs-CZ" dirty="0" err="1">
                <a:hlinkClick r:id="rId4"/>
              </a:rPr>
              <a:t>Bengio</a:t>
            </a:r>
            <a:r>
              <a:rPr lang="cs-CZ" dirty="0">
                <a:hlinkClick r:id="rId4"/>
              </a:rPr>
              <a:t>, </a:t>
            </a:r>
            <a:r>
              <a:rPr lang="cs-CZ" dirty="0" err="1">
                <a:hlinkClick r:id="rId4"/>
              </a:rPr>
              <a:t>Courville</a:t>
            </a:r>
            <a:r>
              <a:rPr lang="cs-CZ" dirty="0">
                <a:hlinkClick r:id="rId4"/>
              </a:rPr>
              <a:t>)</a:t>
            </a:r>
            <a:r>
              <a:rPr lang="cs-CZ" dirty="0"/>
              <a:t> </a:t>
            </a:r>
          </a:p>
          <a:p>
            <a:pPr lvl="1">
              <a:spcBef>
                <a:spcPts val="0"/>
              </a:spcBef>
            </a:pPr>
            <a:r>
              <a:rPr lang="cs-CZ" dirty="0" err="1">
                <a:hlinkClick r:id="rId5"/>
              </a:rPr>
              <a:t>PyTorch</a:t>
            </a:r>
            <a:r>
              <a:rPr lang="cs-CZ" dirty="0">
                <a:hlinkClick r:id="rId5"/>
              </a:rPr>
              <a:t> </a:t>
            </a:r>
            <a:r>
              <a:rPr lang="cs-CZ" dirty="0" err="1">
                <a:hlinkClick r:id="rId5"/>
              </a:rPr>
              <a:t>Documentation</a:t>
            </a:r>
            <a:r>
              <a:rPr lang="cs-CZ" dirty="0"/>
              <a:t> </a:t>
            </a:r>
          </a:p>
          <a:p>
            <a:pPr>
              <a:spcBef>
                <a:spcPts val="0"/>
              </a:spcBef>
            </a:pPr>
            <a:r>
              <a:rPr lang="cs-CZ" b="1" dirty="0"/>
              <a:t>U-Net</a:t>
            </a:r>
          </a:p>
          <a:p>
            <a:pPr lvl="1">
              <a:spcBef>
                <a:spcPts val="0"/>
              </a:spcBef>
            </a:pPr>
            <a:r>
              <a:rPr lang="cs-CZ" dirty="0">
                <a:hlinkClick r:id="rId6"/>
              </a:rPr>
              <a:t>U-Net: </a:t>
            </a:r>
            <a:r>
              <a:rPr lang="cs-CZ" dirty="0" err="1">
                <a:hlinkClick r:id="rId6"/>
              </a:rPr>
              <a:t>Convolutional</a:t>
            </a:r>
            <a:r>
              <a:rPr lang="cs-CZ" dirty="0">
                <a:hlinkClick r:id="rId6"/>
              </a:rPr>
              <a:t> </a:t>
            </a:r>
            <a:r>
              <a:rPr lang="cs-CZ" dirty="0" err="1">
                <a:hlinkClick r:id="rId6"/>
              </a:rPr>
              <a:t>Networks</a:t>
            </a:r>
            <a:r>
              <a:rPr lang="cs-CZ" dirty="0">
                <a:hlinkClick r:id="rId6"/>
              </a:rPr>
              <a:t> </a:t>
            </a:r>
            <a:r>
              <a:rPr lang="cs-CZ" dirty="0" err="1">
                <a:hlinkClick r:id="rId6"/>
              </a:rPr>
              <a:t>for</a:t>
            </a:r>
            <a:r>
              <a:rPr lang="cs-CZ" dirty="0">
                <a:hlinkClick r:id="rId6"/>
              </a:rPr>
              <a:t> </a:t>
            </a:r>
            <a:r>
              <a:rPr lang="cs-CZ" dirty="0" err="1">
                <a:hlinkClick r:id="rId6"/>
              </a:rPr>
              <a:t>Biomedical</a:t>
            </a:r>
            <a:r>
              <a:rPr lang="cs-CZ" dirty="0">
                <a:hlinkClick r:id="rId6"/>
              </a:rPr>
              <a:t> Image </a:t>
            </a:r>
            <a:r>
              <a:rPr lang="cs-CZ" dirty="0" err="1">
                <a:hlinkClick r:id="rId6"/>
              </a:rPr>
              <a:t>Segmentation</a:t>
            </a:r>
            <a:r>
              <a:rPr lang="cs-CZ" dirty="0">
                <a:hlinkClick r:id="rId6"/>
              </a:rPr>
              <a:t> (</a:t>
            </a:r>
            <a:r>
              <a:rPr lang="cs-CZ" dirty="0" err="1">
                <a:hlinkClick r:id="rId6"/>
              </a:rPr>
              <a:t>Ronneberger</a:t>
            </a:r>
            <a:r>
              <a:rPr lang="cs-CZ" dirty="0">
                <a:hlinkClick r:id="rId6"/>
              </a:rPr>
              <a:t> et al., 2015)</a:t>
            </a:r>
            <a:r>
              <a:rPr lang="cs-CZ" dirty="0"/>
              <a:t> </a:t>
            </a:r>
          </a:p>
          <a:p>
            <a:pPr>
              <a:spcBef>
                <a:spcPts val="0"/>
              </a:spcBef>
            </a:pPr>
            <a:r>
              <a:rPr lang="cs-CZ" b="1" dirty="0" err="1"/>
              <a:t>Colorization</a:t>
            </a:r>
            <a:endParaRPr lang="cs-CZ" b="1" dirty="0"/>
          </a:p>
          <a:p>
            <a:pPr lvl="1">
              <a:spcBef>
                <a:spcPts val="0"/>
              </a:spcBef>
            </a:pPr>
            <a:r>
              <a:rPr lang="cs-CZ" dirty="0" err="1">
                <a:hlinkClick r:id="rId7"/>
              </a:rPr>
              <a:t>Colorful</a:t>
            </a:r>
            <a:r>
              <a:rPr lang="cs-CZ" dirty="0">
                <a:hlinkClick r:id="rId7"/>
              </a:rPr>
              <a:t> Image </a:t>
            </a:r>
            <a:r>
              <a:rPr lang="cs-CZ" dirty="0" err="1">
                <a:hlinkClick r:id="rId7"/>
              </a:rPr>
              <a:t>Colorization</a:t>
            </a:r>
            <a:r>
              <a:rPr lang="cs-CZ" dirty="0">
                <a:hlinkClick r:id="rId7"/>
              </a:rPr>
              <a:t> (</a:t>
            </a:r>
            <a:r>
              <a:rPr lang="cs-CZ" dirty="0" err="1">
                <a:hlinkClick r:id="rId7"/>
              </a:rPr>
              <a:t>Zhang</a:t>
            </a:r>
            <a:r>
              <a:rPr lang="cs-CZ" dirty="0">
                <a:hlinkClick r:id="rId7"/>
              </a:rPr>
              <a:t> et al., 2016)</a:t>
            </a:r>
            <a:r>
              <a:rPr lang="cs-CZ" dirty="0"/>
              <a:t> </a:t>
            </a:r>
          </a:p>
          <a:p>
            <a:pPr>
              <a:spcBef>
                <a:spcPts val="0"/>
              </a:spcBef>
            </a:pPr>
            <a:r>
              <a:rPr lang="cs-CZ" b="1" dirty="0"/>
              <a:t>Budoucí rozšíření</a:t>
            </a:r>
          </a:p>
          <a:p>
            <a:pPr lvl="1">
              <a:spcBef>
                <a:spcPts val="0"/>
              </a:spcBef>
            </a:pPr>
            <a:r>
              <a:rPr lang="cs-CZ" dirty="0">
                <a:hlinkClick r:id="rId8"/>
              </a:rPr>
              <a:t>An Image </a:t>
            </a:r>
            <a:r>
              <a:rPr lang="cs-CZ" dirty="0" err="1">
                <a:hlinkClick r:id="rId8"/>
              </a:rPr>
              <a:t>is</a:t>
            </a:r>
            <a:r>
              <a:rPr lang="cs-CZ" dirty="0">
                <a:hlinkClick r:id="rId8"/>
              </a:rPr>
              <a:t> </a:t>
            </a:r>
            <a:r>
              <a:rPr lang="cs-CZ" dirty="0" err="1">
                <a:hlinkClick r:id="rId8"/>
              </a:rPr>
              <a:t>Worth</a:t>
            </a:r>
            <a:r>
              <a:rPr lang="cs-CZ" dirty="0">
                <a:hlinkClick r:id="rId8"/>
              </a:rPr>
              <a:t> 16x16 </a:t>
            </a:r>
            <a:r>
              <a:rPr lang="cs-CZ" dirty="0" err="1">
                <a:hlinkClick r:id="rId8"/>
              </a:rPr>
              <a:t>Words</a:t>
            </a:r>
            <a:r>
              <a:rPr lang="cs-CZ" dirty="0">
                <a:hlinkClick r:id="rId8"/>
              </a:rPr>
              <a:t>: Vision </a:t>
            </a:r>
            <a:r>
              <a:rPr lang="cs-CZ" dirty="0" err="1">
                <a:hlinkClick r:id="rId8"/>
              </a:rPr>
              <a:t>Transformer</a:t>
            </a:r>
            <a:r>
              <a:rPr lang="cs-CZ" dirty="0">
                <a:hlinkClick r:id="rId8"/>
              </a:rPr>
              <a:t> (</a:t>
            </a:r>
            <a:r>
              <a:rPr lang="cs-CZ" dirty="0" err="1">
                <a:hlinkClick r:id="rId8"/>
              </a:rPr>
              <a:t>Dosovitskiy</a:t>
            </a:r>
            <a:r>
              <a:rPr lang="cs-CZ" dirty="0">
                <a:hlinkClick r:id="rId8"/>
              </a:rPr>
              <a:t> et al., 2020)</a:t>
            </a:r>
            <a:r>
              <a:rPr lang="cs-CZ" dirty="0"/>
              <a:t> </a:t>
            </a:r>
          </a:p>
          <a:p>
            <a:pPr lvl="1">
              <a:spcBef>
                <a:spcPts val="0"/>
              </a:spcBef>
            </a:pPr>
            <a:r>
              <a:rPr lang="cs-CZ" dirty="0">
                <a:hlinkClick r:id="rId9"/>
              </a:rPr>
              <a:t>Learning </a:t>
            </a:r>
            <a:r>
              <a:rPr lang="cs-CZ" dirty="0" err="1">
                <a:hlinkClick r:id="rId9"/>
              </a:rPr>
              <a:t>Transferable</a:t>
            </a:r>
            <a:r>
              <a:rPr lang="cs-CZ" dirty="0">
                <a:hlinkClick r:id="rId9"/>
              </a:rPr>
              <a:t> </a:t>
            </a:r>
            <a:r>
              <a:rPr lang="cs-CZ" dirty="0" err="1">
                <a:hlinkClick r:id="rId9"/>
              </a:rPr>
              <a:t>Visual</a:t>
            </a:r>
            <a:r>
              <a:rPr lang="cs-CZ" dirty="0">
                <a:hlinkClick r:id="rId9"/>
              </a:rPr>
              <a:t> </a:t>
            </a:r>
            <a:r>
              <a:rPr lang="cs-CZ" dirty="0" err="1">
                <a:hlinkClick r:id="rId9"/>
              </a:rPr>
              <a:t>Models</a:t>
            </a:r>
            <a:r>
              <a:rPr lang="cs-CZ" dirty="0">
                <a:hlinkClick r:id="rId9"/>
              </a:rPr>
              <a:t> </a:t>
            </a:r>
            <a:r>
              <a:rPr lang="cs-CZ" dirty="0" err="1">
                <a:hlinkClick r:id="rId9"/>
              </a:rPr>
              <a:t>From</a:t>
            </a:r>
            <a:r>
              <a:rPr lang="cs-CZ" dirty="0">
                <a:hlinkClick r:id="rId9"/>
              </a:rPr>
              <a:t> Natural </a:t>
            </a:r>
            <a:r>
              <a:rPr lang="cs-CZ" dirty="0" err="1">
                <a:hlinkClick r:id="rId9"/>
              </a:rPr>
              <a:t>Language</a:t>
            </a:r>
            <a:r>
              <a:rPr lang="cs-CZ" dirty="0">
                <a:hlinkClick r:id="rId9"/>
              </a:rPr>
              <a:t> </a:t>
            </a:r>
            <a:r>
              <a:rPr lang="cs-CZ" dirty="0" err="1">
                <a:hlinkClick r:id="rId9"/>
              </a:rPr>
              <a:t>Supervision</a:t>
            </a:r>
            <a:r>
              <a:rPr lang="cs-CZ" dirty="0">
                <a:hlinkClick r:id="rId9"/>
              </a:rPr>
              <a:t> (CLIP)</a:t>
            </a:r>
            <a:r>
              <a:rPr lang="cs-CZ" dirty="0"/>
              <a:t> </a:t>
            </a:r>
          </a:p>
          <a:p>
            <a:endParaRPr lang="cs-CZ" dirty="0"/>
          </a:p>
        </p:txBody>
      </p:sp>
    </p:spTree>
    <p:extLst>
      <p:ext uri="{BB962C8B-B14F-4D97-AF65-F5344CB8AC3E}">
        <p14:creationId xmlns:p14="http://schemas.microsoft.com/office/powerpoint/2010/main" val="1636512108"/>
      </p:ext>
    </p:extLst>
  </p:cSld>
  <p:clrMapOvr>
    <a:masterClrMapping/>
  </p:clrMapOvr>
</p:sld>
</file>

<file path=ppt/theme/theme1.xml><?xml version="1.0" encoding="utf-8"?>
<a:theme xmlns:a="http://schemas.openxmlformats.org/drawingml/2006/main" name="Kapka">
  <a:themeElements>
    <a:clrScheme name="Kapka">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Kapka">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pka">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TM04033925[[fn=Kapka]]</Template>
  <TotalTime>159</TotalTime>
  <Words>695</Words>
  <Application>Microsoft Office PowerPoint</Application>
  <PresentationFormat>Širokoúhlá obrazovka</PresentationFormat>
  <Paragraphs>89</Paragraphs>
  <Slides>9</Slides>
  <Notes>0</Notes>
  <HiddenSlides>0</HiddenSlides>
  <MMClips>0</MMClips>
  <ScaleCrop>false</ScaleCrop>
  <HeadingPairs>
    <vt:vector size="6" baseType="variant">
      <vt:variant>
        <vt:lpstr>Použitá písma</vt:lpstr>
      </vt:variant>
      <vt:variant>
        <vt:i4>2</vt:i4>
      </vt:variant>
      <vt:variant>
        <vt:lpstr>Motiv</vt:lpstr>
      </vt:variant>
      <vt:variant>
        <vt:i4>1</vt:i4>
      </vt:variant>
      <vt:variant>
        <vt:lpstr>Nadpisy snímků</vt:lpstr>
      </vt:variant>
      <vt:variant>
        <vt:i4>9</vt:i4>
      </vt:variant>
    </vt:vector>
  </HeadingPairs>
  <TitlesOfParts>
    <vt:vector size="12" baseType="lpstr">
      <vt:lpstr>Arial</vt:lpstr>
      <vt:lpstr>Tw Cen MT</vt:lpstr>
      <vt:lpstr>Kapka</vt:lpstr>
      <vt:lpstr>Workshop – Úvod do strojového učení </vt:lpstr>
      <vt:lpstr>Obarvování černobílých fotografií pomocí neuronových sítí</vt:lpstr>
      <vt:lpstr>Baseline</vt:lpstr>
      <vt:lpstr>Architektury neuronových sítí</vt:lpstr>
      <vt:lpstr>Výsledky provedených experimentů</vt:lpstr>
      <vt:lpstr>Grafické výsledky WS5  Zleva:   Původní RGB | Vstupní L | Mean Baseline | Simple CNN | U-Net</vt:lpstr>
      <vt:lpstr>Diskuse</vt:lpstr>
      <vt:lpstr>Možná vylepšení</vt:lpstr>
      <vt:lpstr>Závěr a zdroje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Ondřej Janeček</dc:creator>
  <cp:lastModifiedBy>Ondřej Janeček</cp:lastModifiedBy>
  <cp:revision>12</cp:revision>
  <cp:lastPrinted>2026-06-21T17:26:28Z</cp:lastPrinted>
  <dcterms:created xsi:type="dcterms:W3CDTF">2026-06-21T14:47:56Z</dcterms:created>
  <dcterms:modified xsi:type="dcterms:W3CDTF">2026-06-21T18:14:31Z</dcterms:modified>
</cp:coreProperties>
</file>